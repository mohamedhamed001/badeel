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13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1371600"/>
            <a:ext cx="5669280" cy="5669280"/>
          </a:xfrm>
          <a:prstGeom prst="ellipse">
            <a:avLst/>
          </a:prstGeom>
          <a:solidFill>
            <a:srgbClr val="1A222C"/>
          </a:solidFill>
          <a:ln w="12700">
            <a:solidFill>
              <a:srgbClr val="1A222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241280" y="3291840"/>
            <a:ext cx="3108960" cy="3108960"/>
          </a:xfrm>
          <a:prstGeom prst="ellipse">
            <a:avLst/>
          </a:prstGeom>
          <a:solidFill>
            <a:srgbClr val="16202A"/>
          </a:solidFill>
          <a:ln w="12700">
            <a:solidFill>
              <a:srgbClr val="1620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874520"/>
            <a:ext cx="7863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0" b="1" dirty="0">
                <a:solidFill>
                  <a:srgbClr val="ECEF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Badeel</a:t>
            </a:r>
            <a:endParaRPr lang="en-US" sz="6600" dirty="0"/>
          </a:p>
        </p:txBody>
      </p:sp>
      <p:sp>
        <p:nvSpPr>
          <p:cNvPr id="5" name="Text 3"/>
          <p:cNvSpPr/>
          <p:nvPr/>
        </p:nvSpPr>
        <p:spPr>
          <a:xfrm>
            <a:off x="640080" y="3035808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8B96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بديل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640080" y="379476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ECEF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medicine-substitution copilot that knows when to say no.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640080" y="5623560"/>
            <a:ext cx="10908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CEF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Mohamed Hamed</a:t>
            </a:r>
            <a:pPr indent="0" marL="0">
              <a:buNone/>
            </a:pPr>
            <a:r>
              <a:rPr lang="en-US" sz="1300" dirty="0">
                <a:solidFill>
                  <a:srgbClr val="8B96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Tips Hindawi Challenge 2026   ·   Edrak for Ai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E13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109087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F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502920"/>
            <a:ext cx="109087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ECEF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medicine is out of stock. Right now.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3361944" cy="2514600"/>
          </a:xfrm>
          <a:prstGeom prst="roundRect">
            <a:avLst>
              <a:gd name="adj" fmla="val 4364"/>
            </a:avLst>
          </a:prstGeom>
          <a:solidFill>
            <a:srgbClr val="1A222C"/>
          </a:solidFill>
          <a:ln w="12700">
            <a:solidFill>
              <a:srgbClr val="1A222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24128" y="2331720"/>
            <a:ext cx="384048" cy="384048"/>
          </a:xfrm>
          <a:prstGeom prst="ellipse">
            <a:avLst/>
          </a:prstGeom>
          <a:solidFill>
            <a:srgbClr val="EAA13A"/>
          </a:solidFill>
          <a:ln w="12700">
            <a:solidFill>
              <a:srgbClr val="EAA1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24128" y="2880360"/>
            <a:ext cx="25938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CEF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medicine is missing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024128" y="3383280"/>
            <a:ext cx="259384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B96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shortage hits an Egyptian pharmacy several times a day.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322064" y="1965960"/>
            <a:ext cx="3361944" cy="2514600"/>
          </a:xfrm>
          <a:prstGeom prst="roundRect">
            <a:avLst>
              <a:gd name="adj" fmla="val 4364"/>
            </a:avLst>
          </a:prstGeom>
          <a:solidFill>
            <a:srgbClr val="1A222C"/>
          </a:solidFill>
          <a:ln w="12700">
            <a:solidFill>
              <a:srgbClr val="1A222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706112" y="2331720"/>
            <a:ext cx="384048" cy="384048"/>
          </a:xfrm>
          <a:prstGeom prst="ellipse">
            <a:avLst/>
          </a:prstGeom>
          <a:solidFill>
            <a:srgbClr val="2FB8A6"/>
          </a:solidFill>
          <a:ln w="12700">
            <a:solidFill>
              <a:srgbClr val="2FB8A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06112" y="2880360"/>
            <a:ext cx="25938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CEF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patient is waiting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4706112" y="3383280"/>
            <a:ext cx="259384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B96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Standing at the counter, prescription in hand.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004048" y="1965960"/>
            <a:ext cx="3361944" cy="2514600"/>
          </a:xfrm>
          <a:prstGeom prst="roundRect">
            <a:avLst>
              <a:gd name="adj" fmla="val 4364"/>
            </a:avLst>
          </a:prstGeom>
          <a:solidFill>
            <a:srgbClr val="1A222C"/>
          </a:solidFill>
          <a:ln w="12700">
            <a:solidFill>
              <a:srgbClr val="1A222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388096" y="2331720"/>
            <a:ext cx="384048" cy="384048"/>
          </a:xfrm>
          <a:prstGeom prst="ellipse">
            <a:avLst/>
          </a:prstGeom>
          <a:solidFill>
            <a:srgbClr val="F2584D"/>
          </a:solidFill>
          <a:ln w="12700">
            <a:solidFill>
              <a:srgbClr val="F2584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388096" y="2880360"/>
            <a:ext cx="25938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CEF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prescriber is unreachable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8388096" y="3383280"/>
            <a:ext cx="259384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B96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Nobody to call. The decision falls to the pharmacist.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40080" y="4937760"/>
            <a:ext cx="10908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ECEF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the pharmacist substitutes — and that is a clinical decision, made under pressure.</a:t>
            </a:r>
            <a:endParaRPr lang="en-US" sz="1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E13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109087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F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 CHATBOT IS THE WRONG ANSWER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502920"/>
            <a:ext cx="109087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ECEF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danger isn't “I don't know.”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1325880"/>
            <a:ext cx="109087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258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It's a confident wrong answer.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2331720"/>
            <a:ext cx="5225796" cy="2286000"/>
          </a:xfrm>
          <a:prstGeom prst="roundRect">
            <a:avLst>
              <a:gd name="adj" fmla="val 4800"/>
            </a:avLst>
          </a:prstGeom>
          <a:solidFill>
            <a:srgbClr val="1A222C"/>
          </a:solidFill>
          <a:ln w="12700">
            <a:solidFill>
              <a:srgbClr val="1A222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2560320"/>
            <a:ext cx="44942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F258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general chatbot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05840" y="3017520"/>
            <a:ext cx="449427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ECEF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“You can substitute it with a similar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ECEF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medicine from the same family.”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005840" y="3977640"/>
            <a:ext cx="44942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8B96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Fluent. Plausible. Sometimes dangerous.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323076" y="2331720"/>
            <a:ext cx="5225796" cy="2286000"/>
          </a:xfrm>
          <a:prstGeom prst="roundRect">
            <a:avLst>
              <a:gd name="adj" fmla="val 4800"/>
            </a:avLst>
          </a:prstGeom>
          <a:solidFill>
            <a:srgbClr val="1A222C"/>
          </a:solidFill>
          <a:ln w="12700">
            <a:solidFill>
              <a:srgbClr val="35C28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688836" y="2560320"/>
            <a:ext cx="44942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35C2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Badeel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688836" y="3017520"/>
            <a:ext cx="449427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ECEF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“Do not substitute.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ECEF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 to the prescriber.”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6688836" y="3977640"/>
            <a:ext cx="44942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35C2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Refusing is a feature, not a failure.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40080" y="5029200"/>
            <a:ext cx="10908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ECEF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a pharmacy, an unhelpful answer is safe. A wrong one is not.</a:t>
            </a:r>
            <a:endParaRPr lang="en-US" sz="1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E13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109087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F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CORE IDEA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502920"/>
            <a:ext cx="109087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ECEF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language model never decides.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3361944" cy="2697480"/>
          </a:xfrm>
          <a:prstGeom prst="roundRect">
            <a:avLst>
              <a:gd name="adj" fmla="val 4068"/>
            </a:avLst>
          </a:prstGeom>
          <a:solidFill>
            <a:srgbClr val="1A222C"/>
          </a:solidFill>
          <a:ln w="12700">
            <a:solidFill>
              <a:srgbClr val="1A222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24128" y="2194560"/>
            <a:ext cx="25938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2F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024128" y="2578608"/>
            <a:ext cx="25938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CEF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024128" y="3200400"/>
            <a:ext cx="259384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B96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Picks the substitute and runs every safety check. Plain code, fully testable.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322064" y="1874520"/>
            <a:ext cx="3361944" cy="2697480"/>
          </a:xfrm>
          <a:prstGeom prst="roundRect">
            <a:avLst>
              <a:gd name="adj" fmla="val 4068"/>
            </a:avLst>
          </a:prstGeom>
          <a:solidFill>
            <a:srgbClr val="1A222C"/>
          </a:solidFill>
          <a:ln w="12700">
            <a:solidFill>
              <a:srgbClr val="1A222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06112" y="2194560"/>
            <a:ext cx="25938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EAA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&amp; WRITES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706112" y="2578608"/>
            <a:ext cx="25938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CEF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model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4706112" y="3200400"/>
            <a:ext cx="259384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B96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Understands the pharmacist's sentence and writes the counselling text.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004048" y="1874520"/>
            <a:ext cx="3361944" cy="2697480"/>
          </a:xfrm>
          <a:prstGeom prst="roundRect">
            <a:avLst>
              <a:gd name="adj" fmla="val 4068"/>
            </a:avLst>
          </a:prstGeom>
          <a:solidFill>
            <a:srgbClr val="1A222C"/>
          </a:solidFill>
          <a:ln w="12700">
            <a:solidFill>
              <a:srgbClr val="1A222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388096" y="2194560"/>
            <a:ext cx="25938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35C2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388096" y="2578608"/>
            <a:ext cx="25938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CEF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guard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8388096" y="3200400"/>
            <a:ext cx="259384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B96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Rejects any medicine the model names that Python did not already approve.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40080" y="5029200"/>
            <a:ext cx="10908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ECEF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Because the decision is code, safety can be measured — not hoped for.</a:t>
            </a:r>
            <a:endParaRPr lang="en-US" sz="1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E13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109087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F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 QUESTION IS ANSWERED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502920"/>
            <a:ext cx="109087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ECEF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question runs the same six steps.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402336" cy="402336"/>
          </a:xfrm>
          <a:prstGeom prst="ellipse">
            <a:avLst/>
          </a:prstGeom>
          <a:solidFill>
            <a:srgbClr val="222C38"/>
          </a:solidFill>
          <a:ln w="12700">
            <a:solidFill>
              <a:srgbClr val="2FB8A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87452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F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207008" y="1828800"/>
            <a:ext cx="45399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CEF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207008" y="2157984"/>
            <a:ext cx="45399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96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 the medicine and the patient's condition out of the sentence.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140196" y="1874520"/>
            <a:ext cx="402336" cy="402336"/>
          </a:xfrm>
          <a:prstGeom prst="ellipse">
            <a:avLst/>
          </a:prstGeom>
          <a:solidFill>
            <a:srgbClr val="222C38"/>
          </a:solidFill>
          <a:ln w="12700">
            <a:solidFill>
              <a:srgbClr val="2FB8A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140196" y="187452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F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707124" y="1828800"/>
            <a:ext cx="45399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CEF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Identify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6707124" y="2157984"/>
            <a:ext cx="45399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96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it to a real product. Unknown? Refuse — never guess.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40080" y="2926080"/>
            <a:ext cx="402336" cy="402336"/>
          </a:xfrm>
          <a:prstGeom prst="ellipse">
            <a:avLst/>
          </a:prstGeom>
          <a:solidFill>
            <a:srgbClr val="222C38"/>
          </a:solidFill>
          <a:ln w="12700">
            <a:solidFill>
              <a:srgbClr val="2FB8A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292608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F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207008" y="2880360"/>
            <a:ext cx="45399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CEF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Stop early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1207008" y="3209544"/>
            <a:ext cx="45399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96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Narrow-margin drugs (e.g. warfarin) escalate immediately.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140196" y="2926080"/>
            <a:ext cx="402336" cy="402336"/>
          </a:xfrm>
          <a:prstGeom prst="ellipse">
            <a:avLst/>
          </a:prstGeom>
          <a:solidFill>
            <a:srgbClr val="222C38"/>
          </a:solidFill>
          <a:ln w="12700">
            <a:solidFill>
              <a:srgbClr val="2FB8A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140196" y="292608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F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707124" y="2880360"/>
            <a:ext cx="45399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CEF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Gather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6707124" y="3209544"/>
            <a:ext cx="45399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96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 every possible alternative, ranked by how close it is.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40080" y="3977640"/>
            <a:ext cx="402336" cy="402336"/>
          </a:xfrm>
          <a:prstGeom prst="ellipse">
            <a:avLst/>
          </a:prstGeom>
          <a:solidFill>
            <a:srgbClr val="222C38"/>
          </a:solidFill>
          <a:ln w="12700">
            <a:solidFill>
              <a:srgbClr val="2FB8A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0080" y="397764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F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207008" y="3931920"/>
            <a:ext cx="45399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CEF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1207008" y="4261104"/>
            <a:ext cx="45399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96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Contraindications, interactions, dosage form — before ranking.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140196" y="3977640"/>
            <a:ext cx="402336" cy="402336"/>
          </a:xfrm>
          <a:prstGeom prst="ellipse">
            <a:avLst/>
          </a:prstGeom>
          <a:solidFill>
            <a:srgbClr val="222C38"/>
          </a:solidFill>
          <a:ln w="12700">
            <a:solidFill>
              <a:srgbClr val="2FB8A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140196" y="397764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F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707124" y="3931920"/>
            <a:ext cx="45399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CEF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Explain</a:t>
            </a:r>
            <a:endParaRPr lang="en-US" sz="1700" dirty="0"/>
          </a:p>
        </p:txBody>
      </p:sp>
      <p:sp>
        <p:nvSpPr>
          <p:cNvPr id="27" name="Text 25"/>
          <p:cNvSpPr/>
          <p:nvPr/>
        </p:nvSpPr>
        <p:spPr>
          <a:xfrm>
            <a:off x="6707124" y="4261104"/>
            <a:ext cx="45399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96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writes the reason, grounded in the leaflet.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40080" y="5349240"/>
            <a:ext cx="10908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2F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runs before ranking — so a blocked first choice gives way to a safe one.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E13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109087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F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 ADDED BEYOND THE COURSE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502920"/>
            <a:ext cx="109087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ECEF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guard: the model has to prove it.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5225796" cy="2834640"/>
          </a:xfrm>
          <a:prstGeom prst="roundRect">
            <a:avLst>
              <a:gd name="adj" fmla="val 3871"/>
            </a:avLst>
          </a:prstGeom>
          <a:solidFill>
            <a:srgbClr val="1A222C"/>
          </a:solidFill>
          <a:ln w="12700">
            <a:solidFill>
              <a:srgbClr val="1A222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51560" y="2057400"/>
            <a:ext cx="44028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CEF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Think of a doorman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051560" y="2606040"/>
            <a:ext cx="4402836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8B96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guest list comes from management — never from the person at the door.</a:t>
            </a: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8B96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 model names a medicine that isn't on Python's approved list, the answer is thrown away.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323076" y="1783080"/>
            <a:ext cx="5225796" cy="2834640"/>
          </a:xfrm>
          <a:prstGeom prst="roundRect">
            <a:avLst>
              <a:gd name="adj" fmla="val 3871"/>
            </a:avLst>
          </a:prstGeom>
          <a:solidFill>
            <a:srgbClr val="1A222C"/>
          </a:solidFill>
          <a:ln w="12700">
            <a:solidFill>
              <a:srgbClr val="1A222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688836" y="2148840"/>
            <a:ext cx="31683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CEF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suggests an approved medicine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9948672" y="2212848"/>
            <a:ext cx="1188720" cy="329184"/>
          </a:xfrm>
          <a:prstGeom prst="roundRect">
            <a:avLst>
              <a:gd name="adj" fmla="val 50000"/>
            </a:avLst>
          </a:prstGeom>
          <a:solidFill>
            <a:srgbClr val="222C38"/>
          </a:solidFill>
          <a:ln w="12700">
            <a:solidFill>
              <a:srgbClr val="35C28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948672" y="2212848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5C2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accepted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688836" y="2926080"/>
            <a:ext cx="31683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CEF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names anything else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9948672" y="2990088"/>
            <a:ext cx="1188720" cy="329184"/>
          </a:xfrm>
          <a:prstGeom prst="roundRect">
            <a:avLst>
              <a:gd name="adj" fmla="val 50000"/>
            </a:avLst>
          </a:prstGeom>
          <a:solidFill>
            <a:srgbClr val="222C38"/>
          </a:solidFill>
          <a:ln w="12700">
            <a:solidFill>
              <a:srgbClr val="F2584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948672" y="2990088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58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rejected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688836" y="3703320"/>
            <a:ext cx="31683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CEF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 attempt also fails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9948672" y="3767328"/>
            <a:ext cx="1188720" cy="329184"/>
          </a:xfrm>
          <a:prstGeom prst="roundRect">
            <a:avLst>
              <a:gd name="adj" fmla="val 50000"/>
            </a:avLst>
          </a:prstGeom>
          <a:solidFill>
            <a:srgbClr val="222C38"/>
          </a:solidFill>
          <a:ln w="12700">
            <a:solidFill>
              <a:srgbClr val="EAA13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948672" y="3767328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AA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escalate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40080" y="5029200"/>
            <a:ext cx="10908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ECEF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fired 3 times across the 30 test cases — it is load-bearing, not decoration.</a:t>
            </a:r>
            <a:endParaRPr lang="en-US" sz="1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E13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011680" y="1280160"/>
            <a:ext cx="6766560" cy="6766560"/>
          </a:xfrm>
          <a:prstGeom prst="ellipse">
            <a:avLst/>
          </a:prstGeom>
          <a:solidFill>
            <a:srgbClr val="1A222C"/>
          </a:solidFill>
          <a:ln w="12700">
            <a:solidFill>
              <a:srgbClr val="1A222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937760" y="2103120"/>
            <a:ext cx="6583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ECEF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demo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4937760" y="3154680"/>
            <a:ext cx="6583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2F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Starting with the app refusing to help.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4937760" y="3840480"/>
            <a:ext cx="65836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8B96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narrow-margin drug  →  refuse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8B96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Asthma written in a sentence  →  blocked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8B96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clean shortage  →  safe alternative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8B96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drug interaction  →  a different one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8B96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typo  →  “did you mean?”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E13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109087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F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MEASURED ON 30 ADVERSARIAL CASES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502920"/>
            <a:ext cx="109087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ECEF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Safety never moves.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3361944" cy="1691640"/>
          </a:xfrm>
          <a:prstGeom prst="roundRect">
            <a:avLst>
              <a:gd name="adj" fmla="val 6486"/>
            </a:avLst>
          </a:prstGeom>
          <a:solidFill>
            <a:srgbClr val="1A222C"/>
          </a:solidFill>
          <a:ln w="12700">
            <a:solidFill>
              <a:srgbClr val="1A222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24128" y="1965960"/>
            <a:ext cx="259384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35C2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1024128" y="2852928"/>
            <a:ext cx="25938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96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 — with the model on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322064" y="1783080"/>
            <a:ext cx="3361944" cy="1691640"/>
          </a:xfrm>
          <a:prstGeom prst="roundRect">
            <a:avLst>
              <a:gd name="adj" fmla="val 6486"/>
            </a:avLst>
          </a:prstGeom>
          <a:solidFill>
            <a:srgbClr val="1A222C"/>
          </a:solidFill>
          <a:ln w="12700">
            <a:solidFill>
              <a:srgbClr val="1A222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706112" y="1965960"/>
            <a:ext cx="259384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35C2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endParaRPr lang="en-US" sz="4600" dirty="0"/>
          </a:p>
        </p:txBody>
      </p:sp>
      <p:sp>
        <p:nvSpPr>
          <p:cNvPr id="9" name="Text 7"/>
          <p:cNvSpPr/>
          <p:nvPr/>
        </p:nvSpPr>
        <p:spPr>
          <a:xfrm>
            <a:off x="4706112" y="2852928"/>
            <a:ext cx="25938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96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 — with no model at all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004048" y="1783080"/>
            <a:ext cx="3361944" cy="1691640"/>
          </a:xfrm>
          <a:prstGeom prst="roundRect">
            <a:avLst>
              <a:gd name="adj" fmla="val 6486"/>
            </a:avLst>
          </a:prstGeom>
          <a:solidFill>
            <a:srgbClr val="1A222C"/>
          </a:solidFill>
          <a:ln w="12700">
            <a:solidFill>
              <a:srgbClr val="1A222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388096" y="1965960"/>
            <a:ext cx="259384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EAA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4600" dirty="0"/>
          </a:p>
        </p:txBody>
      </p:sp>
      <p:sp>
        <p:nvSpPr>
          <p:cNvPr id="12" name="Text 10"/>
          <p:cNvSpPr/>
          <p:nvPr/>
        </p:nvSpPr>
        <p:spPr>
          <a:xfrm>
            <a:off x="8388096" y="2852928"/>
            <a:ext cx="25938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96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times the guard caught the model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40080" y="3794760"/>
            <a:ext cx="10908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CEF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Turning the model on raised useful answers from 7% to 57% — and moved safety by zero.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40080" y="4279392"/>
            <a:ext cx="10908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2F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is the whole argument: the model was never allowed near the decision.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40080" y="4983480"/>
            <a:ext cx="10908792" cy="914400"/>
          </a:xfrm>
          <a:prstGeom prst="roundRect">
            <a:avLst>
              <a:gd name="adj" fmla="val 12000"/>
            </a:avLst>
          </a:prstGeom>
          <a:solidFill>
            <a:srgbClr val="1A222C"/>
          </a:solidFill>
          <a:ln w="12700">
            <a:solidFill>
              <a:srgbClr val="1A222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51560" y="4983480"/>
            <a:ext cx="1008583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8B96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Also:  </a:t>
            </a:r>
            <a:pPr indent="0" marL="0">
              <a:buNone/>
            </a:pPr>
            <a:r>
              <a:rPr lang="en-US" sz="1500" b="1" dirty="0">
                <a:solidFill>
                  <a:srgbClr val="ECEF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56 automated tests</a:t>
            </a:r>
            <a:pPr indent="0" marL="0">
              <a:buNone/>
            </a:pPr>
            <a:r>
              <a:rPr lang="en-US" sz="1500" dirty="0">
                <a:solidFill>
                  <a:srgbClr val="8B96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indent="0" marL="0">
              <a:buNone/>
            </a:pPr>
            <a:r>
              <a:rPr lang="en-US" sz="1500" b="1" dirty="0">
                <a:solidFill>
                  <a:srgbClr val="ECEF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with no model reachable</a:t>
            </a:r>
            <a:pPr indent="0" marL="0">
              <a:buNone/>
            </a:pPr>
            <a:r>
              <a:rPr lang="en-US" sz="1500" dirty="0">
                <a:solidFill>
                  <a:srgbClr val="8B96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indent="0" marL="0">
              <a:buNone/>
            </a:pPr>
            <a:r>
              <a:rPr lang="en-US" sz="1500" b="1" dirty="0">
                <a:solidFill>
                  <a:srgbClr val="ECEF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Arabic interface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E13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138160" y="2011680"/>
            <a:ext cx="6400800" cy="6400800"/>
          </a:xfrm>
          <a:prstGeom prst="ellipse">
            <a:avLst/>
          </a:prstGeom>
          <a:solidFill>
            <a:srgbClr val="1A222C"/>
          </a:solidFill>
          <a:ln w="12700">
            <a:solidFill>
              <a:srgbClr val="1A222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274320"/>
            <a:ext cx="109087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F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 TOOK AWAY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1920240"/>
            <a:ext cx="8138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ECEF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work isn't making the model smarter.</a:t>
            </a:r>
            <a:endParaRPr lang="en-US" sz="3300" dirty="0"/>
          </a:p>
        </p:txBody>
      </p:sp>
      <p:sp>
        <p:nvSpPr>
          <p:cNvPr id="5" name="Text 3"/>
          <p:cNvSpPr/>
          <p:nvPr/>
        </p:nvSpPr>
        <p:spPr>
          <a:xfrm>
            <a:off x="640080" y="2880360"/>
            <a:ext cx="8138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2F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It's making sure it can't be wrong</a:t>
            </a:r>
            <a:endParaRPr lang="en-US" sz="3300" dirty="0"/>
          </a:p>
          <a:p>
            <a:pPr indent="0" marL="0">
              <a:buNone/>
            </a:pPr>
            <a:r>
              <a:rPr lang="en-US" sz="3300" b="1" dirty="0">
                <a:solidFill>
                  <a:srgbClr val="2F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a way that matters.</a:t>
            </a:r>
            <a:endParaRPr lang="en-US" sz="3300" dirty="0"/>
          </a:p>
        </p:txBody>
      </p:sp>
      <p:sp>
        <p:nvSpPr>
          <p:cNvPr id="6" name="Text 4"/>
          <p:cNvSpPr/>
          <p:nvPr/>
        </p:nvSpPr>
        <p:spPr>
          <a:xfrm>
            <a:off x="640080" y="4572000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8B96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Next: public deployment, a larger medicine registry, and a pharmacist trial.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40080" y="5669280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CEF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— questions welcome.</a:t>
            </a: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Badeel — Medicine Substitution Copilot</dc:title>
  <dc:subject>PptxGenJS Presentation</dc:subject>
  <dc:creator>Mohamed Hamed</dc:creator>
  <cp:lastModifiedBy>Mohamed Hamed</cp:lastModifiedBy>
  <cp:revision>1</cp:revision>
  <dcterms:created xsi:type="dcterms:W3CDTF">2026-07-27T19:27:32Z</dcterms:created>
  <dcterms:modified xsi:type="dcterms:W3CDTF">2026-07-27T19:27:32Z</dcterms:modified>
</cp:coreProperties>
</file>